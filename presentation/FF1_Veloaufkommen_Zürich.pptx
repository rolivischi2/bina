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8" r:id="rId9"/>
    <p:sldId id="257" r:id="rId8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8288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B4D8"/>
                </a:solidFill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411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Kontext &amp; Forschungsfragen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89611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C4DE"/>
                </a:solidFill>
              </a:rPr>
              <a:t>Datenbasierte Entscheidungsunterstützung für die Velostrategie 2030 der Stadt Zürich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371600"/>
            <a:ext cx="3566160" cy="4846320"/>
          </a:xfrm>
          <a:prstGeom prst="rect">
            <a:avLst/>
          </a:prstGeom>
          <a:solidFill>
            <a:srgbClr val="12263A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93192" y="1508760"/>
            <a:ext cx="502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</a:rPr>
              <a:t>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55448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B4D8"/>
                </a:solidFill>
              </a:rPr>
              <a:t>Velostrategie 2030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3192" y="2057400"/>
            <a:ext cx="3236976" cy="228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3192" y="2176272"/>
            <a:ext cx="32918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«Velofahren für alle
jederzeit selbstverständlich»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" y="2926080"/>
            <a:ext cx="32918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B0C4DE"/>
                </a:solidFill>
              </a:rPr>
              <a:t>Die Stadt Zürich hat mit der Velostrategie 2030 das Ziel gesetzt, Velofahren als selbstverständliches Alltagsverkehrsmittel zu etablieren. Datenbasierte Analysen sind dabei unverzichtbar, um Infrastrukturentscheide gezielt und evidenzbasiert zu treffen.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" y="4343400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00B4D8"/>
                </a:solidFill>
              </a:rPr>
              <a:t>Analysebasis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" y="4645152"/>
            <a:ext cx="3291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C4DE"/>
                </a:solidFill>
              </a:rPr>
              <a:t>Open Data Stadt Zürich
Verkehrszählungen Fussgänger &amp; Velo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" y="5193791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00B4D8"/>
                </a:solidFill>
              </a:rPr>
              <a:t>Methodik-Framework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3192" y="5504687"/>
            <a:ext cx="32918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C4DE"/>
                </a:solidFill>
              </a:rPr>
              <a:t>CPA «From Data to Decisions» (Marr, 2020)
Schritte 1–4: Daten → Analyse → Entscheid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050792" y="1371600"/>
            <a:ext cx="7909560" cy="1527048"/>
          </a:xfrm>
          <a:prstGeom prst="rect">
            <a:avLst/>
          </a:prstGeom>
          <a:solidFill>
            <a:srgbClr val="12263A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33672" y="1481328"/>
            <a:ext cx="7635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B4D8"/>
                </a:solidFill>
              </a:rPr>
              <a:t>FF1 — Absolutes Veloaufkommen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33672" y="1828800"/>
            <a:ext cx="76352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FFFFF"/>
                </a:solidFill>
              </a:rPr>
              <a:t>Welche Zählstellen weisen konstant das höchste absolute Veloaufkommen auf, und wie hat sich dieses im Zeitraum 2020–2025 verändert?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33672" y="2560320"/>
            <a:ext cx="7635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B4D8"/>
                </a:solidFill>
              </a:rPr>
              <a:t>→  Identifikation der meistgenutzten Achsen als Basis für Prioritätsentscheide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050792" y="3003804"/>
            <a:ext cx="7909560" cy="1527048"/>
          </a:xfrm>
          <a:prstGeom prst="rect">
            <a:avLst/>
          </a:prstGeom>
          <a:solidFill>
            <a:srgbClr val="12263A"/>
          </a:solidFill>
          <a:ln w="19050">
            <a:solidFill>
              <a:srgbClr val="2DD4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33672" y="3113532"/>
            <a:ext cx="7635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DD48A"/>
                </a:solidFill>
              </a:rPr>
              <a:t>FF2 — Wachstums-Hotspots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33672" y="3461004"/>
            <a:ext cx="76352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FFFFF"/>
                </a:solidFill>
              </a:rPr>
              <a:t>Welche Zählstellen zeigen den stärksten Wachstumstrend? Wo soll die Stadt präventive Kapazitätserweiterungen priorisieren?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33672" y="4192524"/>
            <a:ext cx="7635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DD48A"/>
                </a:solidFill>
              </a:rPr>
              <a:t>→  Vorausschauende Planung statt reaktive Engpassbehebung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050792" y="4636008"/>
            <a:ext cx="7909560" cy="1527048"/>
          </a:xfrm>
          <a:prstGeom prst="rect">
            <a:avLst/>
          </a:prstGeom>
          <a:solidFill>
            <a:srgbClr val="12263A"/>
          </a:solidFill>
          <a:ln w="19050">
            <a:solidFill>
              <a:srgbClr val="A28B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33672" y="4745736"/>
            <a:ext cx="7635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A28BF5"/>
                </a:solidFill>
              </a:rPr>
              <a:t>FF3 — Wettersensitivität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33672" y="5093208"/>
            <a:ext cx="76352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FFFFF"/>
                </a:solidFill>
              </a:rPr>
              <a:t>Wie stark reagiert das Veloaufkommen auf Regen und tiefe Temperaturen? Welche Standorte weisen eine überdurchschnittliche Wettersensitivität auf?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33672" y="5824728"/>
            <a:ext cx="7635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A28BF5"/>
                </a:solidFill>
              </a:rPr>
              <a:t>→  Ganzjährige Alltagstauglichkeit des Velonetzes sicherstellen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B4D8"/>
                </a:solidFill>
              </a:rPr>
              <a:t>BINA — Forschungsfrage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6070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>
                <a:solidFill>
                  <a:srgbClr val="FFFFFF"/>
                </a:solidFill>
              </a:rPr>
              <a:t>Absolutes Veloaufkommen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92608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B0C4DE"/>
                </a:solidFill>
              </a:rPr>
              <a:t>Welche Zählstellen weisen konstant das höchste absolute Veloaufkommen auf,
und wie hat sich dieses von 2020 bis 2025 verändert?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4937760"/>
            <a:ext cx="2194560" cy="1188720"/>
          </a:xfrm>
          <a:prstGeom prst="rect">
            <a:avLst/>
          </a:prstGeom>
          <a:solidFill>
            <a:srgbClr val="1A2F4A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502920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00B4D8"/>
                </a:solidFill>
              </a:rPr>
              <a:t>5 Mio+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562356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B0C4DE"/>
                </a:solidFill>
              </a:rPr>
              <a:t>Messdatensätze</a:t>
            </a:r>
          </a:p>
        </p:txBody>
      </p:sp>
      <p:sp>
        <p:nvSpPr>
          <p:cNvPr id="9" name="Rectangle 8"/>
          <p:cNvSpPr/>
          <p:nvPr/>
        </p:nvSpPr>
        <p:spPr>
          <a:xfrm>
            <a:off x="3063240" y="4937760"/>
            <a:ext cx="2194560" cy="1188720"/>
          </a:xfrm>
          <a:prstGeom prst="rect">
            <a:avLst/>
          </a:prstGeom>
          <a:solidFill>
            <a:srgbClr val="1A2F4A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72968" y="502920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00B4D8"/>
                </a:solidFill>
              </a:rPr>
              <a:t>70+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72968" y="562356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B0C4DE"/>
                </a:solidFill>
              </a:rPr>
              <a:t>Zählstellen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0" y="4937760"/>
            <a:ext cx="2194560" cy="1188720"/>
          </a:xfrm>
          <a:prstGeom prst="rect">
            <a:avLst/>
          </a:prstGeom>
          <a:solidFill>
            <a:srgbClr val="1A2F4A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96128" y="502920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00B4D8"/>
                </a:solidFill>
              </a:rPr>
              <a:t>6 Jahre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96128" y="562356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B0C4DE"/>
                </a:solidFill>
              </a:rPr>
              <a:t>2020–2025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09560" y="4937760"/>
            <a:ext cx="2194560" cy="1188720"/>
          </a:xfrm>
          <a:prstGeom prst="rect">
            <a:avLst/>
          </a:prstGeom>
          <a:solidFill>
            <a:srgbClr val="1A2F4A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19288" y="502920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00B4D8"/>
                </a:solidFill>
              </a:rPr>
              <a:t>Zürich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19288" y="562356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B0C4DE"/>
                </a:solidFill>
              </a:rPr>
              <a:t>Stadtgebiet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8288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B4D8"/>
                </a:solidFill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411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Projekt-Highlights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89611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C4DE"/>
                </a:solidFill>
              </a:rPr>
              <a:t>Was wir im Rahmen des BINA-Projekts gelernt und erreicht haben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371600"/>
            <a:ext cx="3566160" cy="4846320"/>
          </a:xfrm>
          <a:prstGeom prst="rect">
            <a:avLst/>
          </a:prstGeom>
          <a:solidFill>
            <a:srgbClr val="12263A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93192" y="1508760"/>
            <a:ext cx="502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</a:rPr>
              <a:t>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1554480"/>
            <a:ext cx="2788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B4D8"/>
                </a:solidFill>
              </a:rPr>
              <a:t>Technische Lernkurve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3192" y="2057400"/>
            <a:ext cx="3236976" cy="228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3192" y="2194560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🐍 Python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" y="2487168"/>
            <a:ext cx="3291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B0C4DE"/>
                </a:solidFill>
              </a:rPr>
              <a:t>Von null zur vollständigen Datenanalyse — Skripte, Schleifen, DataFrames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" y="3182112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📦 Bibliotheken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" y="3474720"/>
            <a:ext cx="3291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B0C4DE"/>
                </a:solidFill>
              </a:rPr>
              <a:t>Pandas, Matplotlib, Seaborn, Scipy — professioneller Analyse-Stack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" y="4169664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📓 Jupyter Notebook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3192" y="4462272"/>
            <a:ext cx="3291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B0C4DE"/>
                </a:solidFill>
              </a:rPr>
              <a:t>Interaktive Analyse, Dokumentation und Visualisierung in einem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2" y="5157216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🤖 KI-Unterstützung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3192" y="5449824"/>
            <a:ext cx="3291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B0C4DE"/>
                </a:solidFill>
              </a:rPr>
              <a:t>Effizienter durch intelligente Assistenz bei Code &amp; Interpretation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050792" y="1371600"/>
            <a:ext cx="3566160" cy="4846320"/>
          </a:xfrm>
          <a:prstGeom prst="rect">
            <a:avLst/>
          </a:prstGeom>
          <a:solidFill>
            <a:srgbClr val="12263A"/>
          </a:solidFill>
          <a:ln w="19050">
            <a:solidFill>
              <a:srgbClr val="2DD4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15384" y="1508760"/>
            <a:ext cx="502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</a:rPr>
              <a:t>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9160" y="1554480"/>
            <a:ext cx="2788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DD48A"/>
                </a:solidFill>
              </a:rPr>
              <a:t>Kollaboration &amp; Methodik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15384" y="2057400"/>
            <a:ext cx="3236976" cy="22860"/>
          </a:xfrm>
          <a:prstGeom prst="rect">
            <a:avLst/>
          </a:prstGeom>
          <a:solidFill>
            <a:srgbClr val="2D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15384" y="2194560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👥 Pair Programming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15384" y="2487168"/>
            <a:ext cx="3291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B0C4DE"/>
                </a:solidFill>
              </a:rPr>
              <a:t>Gemeinsam schneller zum Ziel — weniger Fehler, mehr Lerneffekt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15384" y="3182112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📒 Geteilte Notebooks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15384" y="3474720"/>
            <a:ext cx="3291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B0C4DE"/>
                </a:solidFill>
              </a:rPr>
              <a:t>Transparente, reproduzierbare Analysen für das ganze Team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15384" y="4169664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🌿 Git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15384" y="4462272"/>
            <a:ext cx="3291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B0C4DE"/>
                </a:solidFill>
              </a:rPr>
              <a:t>Versionskontrolle für jeden Analyseschritt — nichts geht verloren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15384" y="5157216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🐙 GitHub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15384" y="5449824"/>
            <a:ext cx="3291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B0C4DE"/>
                </a:solidFill>
              </a:rPr>
              <a:t>Zentrales Repository, Pull Requests und gemeinsame Codebasis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872984" y="1371600"/>
            <a:ext cx="3566160" cy="4846320"/>
          </a:xfrm>
          <a:prstGeom prst="rect">
            <a:avLst/>
          </a:prstGeom>
          <a:solidFill>
            <a:srgbClr val="12263A"/>
          </a:solidFill>
          <a:ln w="19050">
            <a:solidFill>
              <a:srgbClr val="A28B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37576" y="1508760"/>
            <a:ext cx="502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</a:rPr>
              <a:t>🎯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31352" y="1554480"/>
            <a:ext cx="2788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A28BF5"/>
                </a:solidFill>
              </a:rPr>
              <a:t>Analytische Flugoptik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037576" y="2057400"/>
            <a:ext cx="3236976" cy="22860"/>
          </a:xfrm>
          <a:prstGeom prst="rect">
            <a:avLst/>
          </a:prstGeom>
          <a:solidFill>
            <a:srgbClr val="A28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37576" y="2194560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🔧 Datenaufbereitung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37576" y="2487168"/>
            <a:ext cx="3291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B0C4DE"/>
                </a:solidFill>
              </a:rPr>
              <a:t>Rohdaten bereinigen, zusammenführen und validieren — die Basis für alles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37576" y="3182112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📊 Datenanalyse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37576" y="3474720"/>
            <a:ext cx="3291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B0C4DE"/>
                </a:solidFill>
              </a:rPr>
              <a:t>Statistische Methoden, Regression und Zeitreihen sinnvoll einsetzen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37576" y="4169664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💼 Management-Komm.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37576" y="4462272"/>
            <a:ext cx="3291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B0C4DE"/>
                </a:solidFill>
              </a:rPr>
              <a:t>Erkenntnisse auf den Punkt bringen — verständlich für Entscheider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8288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B4D8"/>
                </a:solidFill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4114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Jahresentwicklung — Top-15 Stationen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8686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C4DE"/>
                </a:solidFill>
              </a:rPr>
              <a:t>Veloaufkommen in Tausend Fahrten pro Jahr (Heatmap)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143000"/>
            <a:ext cx="7132320" cy="539496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543800" y="1280160"/>
            <a:ext cx="4389120" cy="1508760"/>
          </a:xfrm>
          <a:prstGeom prst="rect">
            <a:avLst/>
          </a:prstGeom>
          <a:solidFill>
            <a:srgbClr val="1A2F4A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26679" y="137160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6B35"/>
                </a:solidFill>
              </a:rPr>
              <a:t>Hochvariable Stationen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26679" y="1755648"/>
            <a:ext cx="4023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B0C4DE"/>
                </a:solidFill>
              </a:rPr>
              <a:t>Stadttunnel Nord &amp; Kreuzstrasse zeigen hohe Schwankungen (rank_std &gt; 8).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543800" y="3017520"/>
            <a:ext cx="4389120" cy="1508760"/>
          </a:xfrm>
          <a:prstGeom prst="rect">
            <a:avLst/>
          </a:prstGeom>
          <a:solidFill>
            <a:srgbClr val="1A2F4A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26679" y="310896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B4D8"/>
                </a:solidFill>
              </a:rPr>
              <a:t>Stabile Top-Performer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26679" y="3493008"/>
            <a:ext cx="4023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B0C4DE"/>
                </a:solidFill>
              </a:rPr>
              <a:t>Sonneggstrasse &amp; Hardbrücke: konstant führend (rank_std ≤ 4.3).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543800" y="4754880"/>
            <a:ext cx="4389120" cy="1508760"/>
          </a:xfrm>
          <a:prstGeom prst="rect">
            <a:avLst/>
          </a:prstGeom>
          <a:solidFill>
            <a:srgbClr val="1A2F4A"/>
          </a:solidFill>
          <a:ln w="19050">
            <a:solidFill>
              <a:srgbClr val="48C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26679" y="484632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8CAE4"/>
                </a:solidFill>
              </a:rPr>
              <a:t>Sihlstrasse wächst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26679" y="5230368"/>
            <a:ext cx="4023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B0C4DE"/>
                </a:solidFill>
              </a:rPr>
              <a:t>Von 311k (2020) auf 998k (2025) — stärkstes Wachstum 2024→2025.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8288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B4D8"/>
                </a:solidFill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4114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Wachstums-Hotspots — Wo muss Zürich jetzt handeln?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8686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C4DE"/>
                </a:solidFill>
              </a:rPr>
              <a:t>CAGR 2020–2025 — 12 konsistente Zählstellen mit vollständiger Datenabdeckung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170432"/>
            <a:ext cx="8046720" cy="539496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458200" y="1170432"/>
            <a:ext cx="3520440" cy="5394960"/>
          </a:xfrm>
          <a:prstGeom prst="rect">
            <a:avLst/>
          </a:prstGeom>
          <a:solidFill>
            <a:srgbClr val="1A2F4A"/>
          </a:solidFill>
          <a:ln w="12700">
            <a:solidFill>
              <a:srgbClr val="00D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41080" y="1307592"/>
            <a:ext cx="3246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00D4A0"/>
                </a:solidFill>
              </a:rPr>
              <a:t>MANAGEMENT-ENTSCHEID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41080" y="1719072"/>
            <a:ext cx="3246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80% des Netzwachstums
konzentriert auf 3 Korridore
→ Gezielte Investition wirkt.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95360" y="2697480"/>
            <a:ext cx="54864" cy="384048"/>
          </a:xfrm>
          <a:prstGeom prst="rect">
            <a:avLst/>
          </a:prstGeom>
          <a:solidFill>
            <a:srgbClr val="00D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50808" y="2633472"/>
            <a:ext cx="3154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00D4A0"/>
                </a:solidFill>
              </a:rPr>
              <a:t>A — Sofort handeln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50808" y="2926080"/>
            <a:ext cx="3154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B0C4DE"/>
                </a:solidFill>
              </a:rPr>
              <a:t>Baslerstrasse
CAGR +13.4% · R²=0.91
+87% seit 2020 · Priorität 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95360" y="3703320"/>
            <a:ext cx="54864" cy="38404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50808" y="3639312"/>
            <a:ext cx="3154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00B4D8"/>
                </a:solidFill>
              </a:rPr>
              <a:t>B — Mittelfristig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50808" y="3931920"/>
            <a:ext cx="3154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B0C4DE"/>
                </a:solidFill>
              </a:rPr>
              <a:t>Langstr. Fahrbahn Nord
CAGR +5.1% · R²=0.86
Stetig steigend seit 2021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95360" y="4709160"/>
            <a:ext cx="54864" cy="38404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50808" y="4645152"/>
            <a:ext cx="3154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00B4D8"/>
                </a:solidFill>
              </a:rPr>
              <a:t>B — Mittelfristig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50808" y="4937760"/>
            <a:ext cx="3154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B0C4DE"/>
                </a:solidFill>
              </a:rPr>
              <a:t>Hardbrücke Nord
CAGR +4.2% · R²=0.88
Konsistentes Wachstum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595360" y="5715000"/>
            <a:ext cx="54864" cy="384048"/>
          </a:xfrm>
          <a:prstGeom prst="rect">
            <a:avLst/>
          </a:prstGeom>
          <a:solidFill>
            <a:srgbClr val="B0C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50808" y="5650992"/>
            <a:ext cx="3154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B0C4DE"/>
                </a:solidFill>
              </a:rPr>
              <a:t>⚠ Sinkend beobachten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50808" y="5943600"/>
            <a:ext cx="3154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B0C4DE"/>
                </a:solidFill>
              </a:rPr>
              <a:t>Langstr. Unterführungen
CAGR −5 bis −7%
Ursache klären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8288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B4D8"/>
                </a:solidFill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4114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Wettersensitivität — Kälte ist die eigentliche Hürde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8686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C4DE"/>
                </a:solidFill>
              </a:rPr>
              <a:t>Ø Velofahrten pro Standort-Tag nach Wetterbedingung — Netzwerkebene 2020–2025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170432"/>
            <a:ext cx="7863840" cy="50292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275320" y="1170432"/>
            <a:ext cx="3703320" cy="5029200"/>
          </a:xfrm>
          <a:prstGeom prst="rect">
            <a:avLst/>
          </a:prstGeom>
          <a:solidFill>
            <a:srgbClr val="1A2F4A"/>
          </a:solidFill>
          <a:ln w="12700">
            <a:solidFill>
              <a:srgbClr val="FF4D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58200" y="1307592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F4D6D"/>
                </a:solidFill>
              </a:rPr>
              <a:t>MANAGEMENT-ENTSCHEID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58200" y="1719072"/>
            <a:ext cx="3429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Kälte reduziert das Veloaufkommen 4× stärker als Regen
— ein direkter Widerspruch zur Velostrategie 2030.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12480" y="2651760"/>
            <a:ext cx="54864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67928" y="2587752"/>
            <a:ext cx="3337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00B4D8"/>
                </a:solidFill>
              </a:rPr>
              <a:t>Regen — situativ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67928" y="2880360"/>
            <a:ext cx="3337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B0C4DE"/>
                </a:solidFill>
              </a:rPr>
              <a:t>−10.2% Rückgang
Kurzfristige Hürde, viele Pendler
fahren trotzdem.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412480" y="3566160"/>
            <a:ext cx="54864" cy="347472"/>
          </a:xfrm>
          <a:prstGeom prst="rect">
            <a:avLst/>
          </a:prstGeom>
          <a:solidFill>
            <a:srgbClr val="FF4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67928" y="3502152"/>
            <a:ext cx="3337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F4D6D"/>
                </a:solidFill>
              </a:rPr>
              <a:t>Kälte — strukturell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67928" y="3794760"/>
            <a:ext cx="3337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B0C4DE"/>
                </a:solidFill>
              </a:rPr>
              <a:t>−41.6% Rückgang bei ≤5 °C
Wintermonate blockieren
Alltagstauglichkeit.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12480" y="4480560"/>
            <a:ext cx="54864" cy="347472"/>
          </a:xfrm>
          <a:prstGeom prst="rect">
            <a:avLst/>
          </a:prstGeom>
          <a:solidFill>
            <a:srgbClr val="FF4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67928" y="4416552"/>
            <a:ext cx="3337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F4D6D"/>
                </a:solidFill>
              </a:rPr>
              <a:t>Kombiniert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67928" y="4709160"/>
            <a:ext cx="3337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B0C4DE"/>
                </a:solidFill>
              </a:rPr>
              <a:t>−47% bei Regen + Kälte
Praktisch keine Freizeitnutzung
mehr möglich.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12480" y="5394960"/>
            <a:ext cx="54864" cy="347472"/>
          </a:xfrm>
          <a:prstGeom prst="rect">
            <a:avLst/>
          </a:prstGeom>
          <a:solidFill>
            <a:srgbClr val="2D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67928" y="5330952"/>
            <a:ext cx="3337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2DD48A"/>
                </a:solidFill>
              </a:rPr>
              <a:t>Positive Tendenz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67928" y="5623560"/>
            <a:ext cx="3337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B0C4DE"/>
                </a:solidFill>
              </a:rPr>
              <a:t>Kälte-Sens. −43.9% (2020)
→ −36.3% (2025): Infrastruktur
und Gewohnheit wirken.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